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7DB2FF"/>
                </a:solidFill>
              </a:rPr>
              <a:t>PMS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 Dashboard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Management review and release recommendation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248716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88036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08376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planning progress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2880360"/>
            <a:ext cx="248716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88036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008376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34747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work packages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2880360"/>
            <a:ext cx="248716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88036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008376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34747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52560" y="2880360"/>
            <a:ext cx="248716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880360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3008376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35440" y="34747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78992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Hold the release gate until material blockers and high-risk packages have accountable mitigations.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5800" y="59893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Project window: 05 Jan 2026 — 18 Dec 2026  |  Generated 25 Jul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THIS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counts once, then follow relationships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52578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17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Canonical package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Every Milestone-Specific Work Item plus every Shared Capability, counted once globally.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2578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17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Primary workstream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874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single accountable technical workstream for a package.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834640"/>
            <a:ext cx="52578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26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Supporting workstream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contributing workstream; shown as a relationship, never added to the global package total.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52578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026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Derived planning progress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simple average of package planning progress; it is not earned value.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52578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35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Owner labels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Missing ownership is shown explicitly as “Owner Not Assigned”.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4343400"/>
            <a:ext cx="52578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535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Coverage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892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13 Work Items and 11 canonical Shared Capabilities are included.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PMS-01 · Core PMS Scoring Engine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Provide a trusted and repeatable calculation foundation for employee and team performance.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weighted scoring and result persistence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SC-AUDIT Audit &amp; Historical Records · SC-DB-VERSION Database Versioning &amp; Migration Integrity · SC-PERIOD Period &amp; Configuration Resolution · SC-VERIFY Release Verification Suite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PMS-02 · Team Onboarding &amp; KPI Configuration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Verification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Allow management to configure teams, periods, KPIs, targets, and weights safely.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team and KPI configuration workflow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SC-UI Common UI States &amp; Responsive Design · SC-DB-VERSION Database Versioning &amp; Migration Integrity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PMS-03 · Upload &amp; Data Operations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Verification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Provide safe, repeatable ingestion and correction of performance source data.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atomic upload preview and processing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SC-AUDIT Audit &amp; Historical Records · SC-DB-VERSION Database Versioning &amp; Migration Integrity · SC-VERIFY Release Verification Suite · SC-SECURITY Security &amp; Environment Controls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PMS-04 · Employee Performance Workspace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Development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Give employees and managers a focused view of individual performance.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responsive employee result workspace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SC-AUTH Authentication &amp; Session Security · SC-UI Common UI States &amp; Responsive Design · SC-FE-RELEASE Frontend Release Packaging · SC-RBAC RBAC &amp; Scope Enforcement · SC-VERIFY Release Verification Suite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PMS-05 · Team Performance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Development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Help managers compare team performance and identify attention areas.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Reconcile team dashboard metrics and drill-down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SC-UI Common UI States &amp; Responsive Design · SC-FE-RELEASE Frontend Release Packaging · SC-PERIOD Period &amp; Configuration Resolution · SC-RBAC RBAC &amp; Scope Enforcement · SC-VERIFY Release Verification Suite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PMS-06 · Management Overview &amp; Strategic Performance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Development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Present concise organization-wide performance signals to senior management.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Assemble executive performance overview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SC-UI Common UI States &amp; Responsive Design · SC-FE-RELEASE Frontend Release Packaging · SC-MONITOR Monitoring, Backup &amp; Recovery · SC-PERIOD Period &amp; Configuration Resolution · SC-RBAC RBAC &amp; Scope Enforcement · SC-VERIFY Release Verification Suite · SC-EXPORT Shared Export Framework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PMS-07 · Trend Analytics &amp; Period Comparisons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Development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Make performance movement across valid reporting periods explainable.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 comparable periods and trend series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SC-UI Common UI States &amp; Responsive Design · SC-PERIOD Period &amp; Configuration Resolution · SC-VERIFY Release Verification Suite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PMS-08 · Insights, Classification &amp; Planning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Started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Translate results into consistent classifications and practical planning prompts.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explainable classification rules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SC-UI Common UI States &amp; Responsive Design · SC-PERIOD Period &amp; Configuration Resolution · SC-VERIFY Release Verification Suite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PMS-09 · Corrective Actions &amp; Follow-up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Started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Track accountable corrective actions from performance findings through closure.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corrective action lifecycle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SC-AUDIT Audit &amp; Historical Records · SC-UI Common UI States &amp; Responsive Design · SC-RBAC RBAC &amp; Scope Enforcement · SC-VERIFY Release Verification Suite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PMS-10 · Reporting, Export &amp; Report Builder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Started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Deliver governed management reports and reusable review exports.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governed report generation foundation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SC-UI Common UI States &amp; Responsive Design · SC-FE-RELEASE Frontend Release Packaging · SC-PERIOD Period &amp; Configuration Resolution · SC-RBAC RBAC &amp; Scope Enforcement · SC-VERIFY Release Verification Suite · SC-EXPORT Shared Export Framework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PMS-11 · Admin, Users &amp; Access Control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Verification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Give administrators safe control over users, roles, and configuration access.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Verify user and configuration authorization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SC-AUDIT Audit &amp; Historical Records · SC-AUTH Authentication &amp; Session Security · SC-UI Common UI States &amp; Responsive Design · SC-DB-VERSION Database Versioning &amp; Migration Integrity · SC-RBAC RBAC &amp; Scope Enforcement · SC-VERIFY Release Verification Suite · SC-SECURITY Security &amp; Environment Controls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PMS-12 · Testing, Security, Pilot &amp; Production Release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Started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Establish evidence that Release 1 is secure, supportable, and ready for controlled adoption.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Establish release verification and pilot gates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SC-AUDIT Audit &amp; Historical Records · SC-AUTH Authentication &amp; Session Security · SC-DB-VERSION Database Versioning &amp; Migration Integrity · SC-FE-RELEASE Frontend Release Packaging · SC-MONITOR Monitoring, Backup &amp; Recovery · SC-VERIFY Release Verification Suite · SC-SECURITY Security &amp; Environment Controls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MILESTONE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PMS-13 · AI Insights &amp; Recommendations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1518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8064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34440"/>
            <a:ext cx="64008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Started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0328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9712" y="123444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9712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3624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22592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51976" y="1234440"/>
            <a:ext cx="223113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362456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34856" y="18288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dependencies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23957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Explore governed AI-assisted insight and recommendation generation after Release 1.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99232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554480"/>
                <a:gridCol w="731520"/>
                <a:gridCol w="1600200"/>
                <a:gridCol w="1143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Specific 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Define governed AI recommendation evaluation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9436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Canonical dependencies (references only): SC-MONITOR Monitoring, Backup &amp; Recovery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ownership (1/3)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related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24912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234440"/>
            <a:ext cx="64008" cy="9601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07792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6904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46904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4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9784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68896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123444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51776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progress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87168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team and KPI configuration workflow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Onboarding &amp; KPI Configuration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atomic upload preview and processing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Upload &amp; Data Operations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responsive employee result workspace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Reconcile team dashboard metrics and drill-down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Performance Dashboard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Assemble executive performance overview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Management Overview &amp; Strategic Performance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 comparable periods and trend series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Analytics &amp; Period Comparisons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ownership (2/3)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explainable classification rules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Insights, Classification &amp; Planning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corrective action lifecycle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Corrective Actions &amp; Follow-up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governed report generation foundation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Reporting, Export &amp; Report Builder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Verify user and configuration authorization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Admin, Users &amp; Access 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Establish release verification and pilot gates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Define governed AI recommendation evaluation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Insights &amp; Recommendations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ownership (3/3)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SC-AUTH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Authentication &amp; Session Security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SC-UI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Common UI States &amp; Responsive Design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Onboarding &amp; KPI Configuration, Employee Performance Workspace, Team Performance Dashboard, Management Overview &amp; Strategic Performance, Trend Analytics &amp; Period Comparisons, Insights, Classification &amp; Planning, Corrective Actions &amp; Follow-up, Reporting, Export &amp; Report Builder, Admin, Users &amp; Access 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SC-FE-RELEASE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 Release Packaging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Workspace, Team Performance Dashboard, Management Overview &amp; Strategic Performance, Reporting, Export &amp; Report Builder,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SC-RBAC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RBAC &amp; Scope Enforcement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Workspace, Team Performance Dashboard, Management Overview &amp; Strategic Performance, Corrective Actions &amp; Follow-up, Reporting, Export &amp; Report Builder, Admin, Users &amp; Access 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SC-VERIFY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 Verification Suite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Upload &amp; Data Operations, Employee Performance Workspace, Team Performance Dashboard, Management Overview &amp; Strategic Performance, Trend Analytics &amp; Period Comparisons, Insights, Classification &amp; Planning, Corrective Actions &amp; Follow-up, Reporting, Export &amp; Report Builder,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SC-EXPORT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Export Framework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Management Overview &amp; Strategic Performance, Reporting, Export &amp; Report Builder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ownership (1/4)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related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24912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234440"/>
            <a:ext cx="64008" cy="9601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07792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6904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46904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4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9784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68896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123444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51776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progress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87168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weighted scoring and result persistence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team and KPI configuration workflow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Onboarding &amp; KPI Configuration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atomic upload preview and processing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Upload &amp; Data Operations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responsive employee result workspace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Reconcile team dashboard metrics and drill-down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Performance Dashboard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Assemble executive performance overview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Management Overview &amp; Strategic Performance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ownership (2/4)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 comparable periods and trend series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Analytics &amp; Period Comparisons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explainable classification rules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Insights, Classification &amp; Planning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corrective action lifecycle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Corrective Actions &amp; Follow-up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governed report generation foundation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Reporting, Export &amp; Report Builder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Verify user and configuration authorization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Admin, Users &amp; Access 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Establish release verification and pilot gates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ownership (3/4)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Define governed AI recommendation evaluation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Insights &amp; Recommendations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SC-AUDIT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Audit &amp; Historical Records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Upload &amp; Data Operations, Corrective Actions &amp; Follow-up,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SC-AUTH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Authentication &amp; Session Security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SC-UI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Common UI States &amp; Responsive Design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Onboarding &amp; KPI Configuration, Employee Performance Workspace, Team Performance Dashboard, Management Overview &amp; Strategic Performance, Trend Analytics &amp; Period Comparisons, Insights, Classification &amp; Planning, Corrective Actions &amp; Follow-up, Reporting, Export &amp; Report Builder, Admin, Users &amp; Access 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SC-DB-VERSION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 Versioning &amp; Migration Integrity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Team Onboarding &amp; KPI Configuration, Upload &amp; Data Operations,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SC-FE-RELEASE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 Release Packaging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Workspace, Team Performance Dashboard, Management Overview &amp; Strategic Performance, Reporting, Export &amp; Report Builder,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ownership (4/4)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SC-MONITOR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Monitoring, Backup &amp; Recovery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Management Overview &amp; Strategic Performance, Testing, Security, Pilot &amp; Production Release, AI Insights &amp; Recommendations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SC-PERIOD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Period &amp; Configuration Resolution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Team Performance Dashboard, Management Overview &amp; Strategic Performance, Trend Analytics &amp; Period Comparisons, Insights, Classification &amp; Planning, Reporting, Export &amp; Report Builder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SC-RBAC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RBAC &amp; Scope Enforcement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Workspace, Team Performance Dashboard, Management Overview &amp; Strategic Performance, Corrective Actions &amp; Follow-up, Reporting, Export &amp; Report Builder, Admin, Users &amp; Access 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SC-VERIFY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 Verification Suite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Upload &amp; Data Operations, Employee Performance Workspace, Team Performance Dashboard, Management Overview &amp; Strategic Performance, Trend Analytics &amp; Period Comparisons, Insights, Classification &amp; Planning, Corrective Actions &amp; Follow-up, Reporting, Export &amp; Report Builder,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SC-SECURITY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&amp; Environment Controls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Upload &amp; Data Operations,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SC-EXPORT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Export Framework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Management Overview &amp; Strategic Performance, Reporting, Export &amp; Report Builder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ownership (1/3)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related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24912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234440"/>
            <a:ext cx="64008" cy="9601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07792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6904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46904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9784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9784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68896" y="123444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123444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13624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51776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progress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87168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weighted scoring and result persistence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team and KPI configuration workflow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Onboarding &amp; KPI Configuration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atomic upload preview and processing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Upload &amp; Data Operations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Assemble executive performance overview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Management Overview &amp; Strategic Performance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 comparable periods and trend series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Analytics &amp; Period Comparisons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corrective action lifecycle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Corrective Actions &amp; Follow-up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ownership (2/3)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governed report generation foundation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Reporting, Export &amp; Report Builder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Verify user and configuration authorization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Admin, Users &amp; Access 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Establish release verification and pilot gates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Define governed AI recommendation evaluation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Insights &amp; Recommendations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SC-AUDIT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Audit &amp; Historical Records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Upload &amp; Data Operations, Corrective Actions &amp; Follow-up,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SC-AUTH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Authentication &amp; Session Security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WORKSTREAM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ownership (3/3)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097280"/>
                <a:gridCol w="1417320"/>
                <a:gridCol w="685800"/>
                <a:gridCol w="2468880"/>
                <a:gridCol w="16002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SC-DB-VERSION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 Versioning &amp; Migration Integrity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Team Onboarding &amp; KPI Configuration, Upload &amp; Data Operations,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SC-MONITOR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Monitoring, Backup &amp; Recovery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Management Overview &amp; Strategic Performance, Testing, Security, Pilot &amp; Production Release, AI Insights &amp; Recommendations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SC-PERIOD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Period &amp; Configuration Resolution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Team Performance Dashboard, Management Overview &amp; Strategic Performance, Trend Analytics &amp; Period Comparisons, Insights, Classification &amp; Planning, Reporting, Export &amp; Report Builder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SC-RBAC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RBAC &amp; Scope Enforcement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Performance Workspace, Team Performance Dashboard, Management Overview &amp; Strategic Performance, Corrective Actions &amp; Follow-up, Reporting, Export &amp; Report Builder, Admin, Users &amp; Access Control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SC-VERIFY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 Verification Suite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PMS Scoring Engine, Upload &amp; Data Operations, Employee Performance Workspace, Team Performance Dashboard, Management Overview &amp; Strategic Performance, Trend Analytics &amp; Period Comparisons, Insights, Classification &amp; Planning, Corrective Actions &amp; Follow-up, Reporting, Export &amp; Report Builder,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SC-SECURITY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&amp; Environment Controls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Upload &amp; Data Operations, Admin, Users &amp; Access Control, 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canonical package is visible (1/4)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097280"/>
                <a:gridCol w="1234440"/>
                <a:gridCol w="1417320"/>
                <a:gridCol w="640080"/>
                <a:gridCol w="1508760"/>
                <a:gridCol w="1097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weighted scoring and result persistence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team and KPI configuration workflow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atomic upload preview and processing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responsive employee result workspace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Reconcile team dashboard metrics and drill-down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Assemble executive performance overview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canonical package is visible (2/4)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097280"/>
                <a:gridCol w="1234440"/>
                <a:gridCol w="1417320"/>
                <a:gridCol w="640080"/>
                <a:gridCol w="1508760"/>
                <a:gridCol w="1097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 comparable periods and trend series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explainable classification rules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corrective action lifecycle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governed report generation foundation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Verify user and configuration authorization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Establish release verification and pilot gates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canonical package is visible (3/4)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097280"/>
                <a:gridCol w="1234440"/>
                <a:gridCol w="1417320"/>
                <a:gridCol w="640080"/>
                <a:gridCol w="1508760"/>
                <a:gridCol w="1097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Define governed AI recommendation evaluation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SC-AUDIT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Audit &amp; Historical Records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SC-AUTH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Authentication &amp; Session Security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SC-UI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Common UI States &amp; Responsive Design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SC-DB-VERSION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 Versioning &amp; Migration Integrity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SC-FE-RELEASE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 Release Packaging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canonical package is visible (4/4)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097280"/>
                <a:gridCol w="1234440"/>
                <a:gridCol w="1417320"/>
                <a:gridCol w="640080"/>
                <a:gridCol w="1508760"/>
                <a:gridCol w="1097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SC-MONITOR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Monitoring, Backup &amp; Recovery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SC-PERIOD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Period &amp; Configuration Resolution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SC-RBAC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RBAC &amp; Scope Enforcement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SC-VERIFY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 Verification Suite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SC-SECURITY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&amp; Environment Controls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SC-EXPORT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Export Framework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Capability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portfolio’s delivery-stage distribution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353312" cy="22402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9424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</a:rPr>
              <a:t>13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" y="31546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Not Started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9384" y="2779776"/>
            <a:ext cx="274320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85416" y="1965960"/>
            <a:ext cx="1353312" cy="22402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2249424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95144" y="31546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In Development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779776"/>
            <a:ext cx="274320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6472" y="1965960"/>
            <a:ext cx="1353312" cy="22402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2249424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886200" y="31546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Technical Verification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11496" y="2779776"/>
            <a:ext cx="274320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67528" y="1965960"/>
            <a:ext cx="1353312" cy="22402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2249424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477256" y="31546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Business UAT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02552" y="2779776"/>
            <a:ext cx="274320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58584" y="1965960"/>
            <a:ext cx="1353312" cy="22402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0024" y="2249424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</a:rPr>
              <a:t>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068312" y="31546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Staging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93608" y="2779776"/>
            <a:ext cx="274320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9640" y="1965960"/>
            <a:ext cx="1353312" cy="22402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2249424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</a:rPr>
              <a:t>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659368" y="31546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Controlled Pilot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884664" y="2779776"/>
            <a:ext cx="274320" cy="384048"/>
          </a:xfrm>
          <a:prstGeom prst="chevron">
            <a:avLst/>
          </a:prstGeom>
          <a:solidFill>
            <a:srgbClr val="D9E2EF"/>
          </a:solidFill>
          <a:ln w="12700">
            <a:solidFill>
              <a:srgbClr val="D9E2E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0696" y="1965960"/>
            <a:ext cx="1353312" cy="224028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32136" y="2249424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1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0250424" y="3154680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Pilot scope (1/4)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624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sign-off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61488" y="12344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23444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3624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44368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sign-off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0056" y="12344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0056" y="12344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02936" y="13624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02936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decision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78624" y="12344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78624" y="1234440"/>
            <a:ext cx="6400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1504" y="13624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1828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issues</a:t>
            </a:r>
            <a:endParaRPr lang="en-US" sz="9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14600"/>
          <a:ext cx="11183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154680"/>
                <a:gridCol w="615391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area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 / evidence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team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Inbound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users · Lead: 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team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Outbound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users · Lead: 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team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Pre-Approvals IP Offshore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users · Lead: 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Audit &amp; Historical Records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changes must remain traceable.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Authentication &amp; Session Security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for secure Pilot access.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Common UI States &amp; Responsive Design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Responsive and common states are in Pilot scope.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Pilot scope (2/4)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154680"/>
                <a:gridCol w="615391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area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 / evidence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Database Versioning &amp; Migration Integrity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Migration integrity is required for Pilot.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 Release Packaging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to package and deploy the Pilot frontend.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Period &amp; Configuration Resolution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for representative period resolution.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RBAC &amp; Scope Enforcement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for project and role scope enforcement.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 Verification Suite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 verification drives Pilot gates.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&amp; Environment Controls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Environment and security controls are mandatory.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Pilot scope (3/4)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154680"/>
                <a:gridCol w="615391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area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 / evidence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Deferred after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Monitoring, Backup &amp; Recovery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operational monitoring automation follows Pilot.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Deferred after Pilot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Shared Export Framework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Advanced export composition follows Pilot.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Entry criterion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 and rollback owners confirmed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 · Required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Entry criterion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 and rollback rehearsal passed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 · Required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Entry criterion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teams, users, and capability scope approved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 · Required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Exit criterion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open blocking Pilot issues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 · Required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Pilot scope (4/4)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154680"/>
                <a:gridCol w="615391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area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Position / evidence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Exit criterion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 and technical evidence assembled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 · Required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Exit criterion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UAT outcomes accepted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 · Required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BLOCKERS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risks and blockers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777240"/>
                <a:gridCol w="822960"/>
                <a:gridCol w="1234440"/>
                <a:gridCol w="3429000"/>
                <a:gridCol w="1005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Context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Severity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 rollback ownership is not signed off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Testing, Security, Pilot &amp; Production Release · Release Verification Suite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Critical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named operational owners and rehearse rollback before the Pilot gate.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04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upload evidence is incomplete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Upload &amp; Data Operations · Implement atomic upload preview and processing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 the pilot data inventory and run atomic rollback verification against every agreed file class.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Aug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Comparable period rules need management confirmation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Analytics &amp; Period Comparisons · Period &amp; Configuration Resolution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 explicit comparison rules and preserve them with each report snapshot.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 Aug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decisions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17320"/>
                <a:gridCol w="1051560"/>
                <a:gridCol w="1188720"/>
                <a:gridCol w="822960"/>
                <a:gridCol w="322783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Milestone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Workstreams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by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Recommended direction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 AI recommendations outside Release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 Insights &amp; Recommendations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 Jul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Retain AI Insights &amp; Recommendations in Phase 2.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KPI weight and period validation policy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Onboarding &amp; KPI Configuration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Frontend, Backend,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07 Aug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Pending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 a 100 percent active weight total and reject overlapping active periods.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 the representative Controlled Pilot dataset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Testing, Security, Pilot &amp; Production Release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Backend, Database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 Aug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Pending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two complete teams plus malformed, duplicate and retry file scenarios.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UPCOMING DELIVERY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Upcoming delivery commitments (1/2)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1143000"/>
                <a:gridCol w="1463040"/>
                <a:gridCol w="731520"/>
                <a:gridCol w="1143000"/>
                <a:gridCol w="1554480"/>
                <a:gridCol w="7772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team and KPI configuration workflow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atomic upload preview and processing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responsive employee result workspace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Reconcile team dashboard metrics and drill-down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Assemble executive performance overview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Frontend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 comparable periods and trend series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Development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UPCOMING DELIVERY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Upcoming delivery commitments (2/2)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65379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Orbit Project Manager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1143000"/>
                <a:gridCol w="1463040"/>
                <a:gridCol w="731520"/>
                <a:gridCol w="1143000"/>
                <a:gridCol w="1554480"/>
                <a:gridCol w="7772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Progress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Implement explainable classification rules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WI-09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Deliver corrective action lifecycle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governed report generation foundation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Verify user and configuration authorization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Technical Verification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Establish release verification and pilot gates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Sept 2026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WI-13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Define governed AI recommendation evaluation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 Item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Owner Not Assigned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73152" marB="73152" anchor="ctr">
                    <a:lnL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7DB2FF"/>
                </a:solidFill>
              </a:rPr>
              <a:t>FINAL RELEASE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Hold the release gate until material blockers and high-risk packages have accountable mitigations.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971800"/>
            <a:ext cx="5166360" cy="713232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729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 blocked canonical package(s)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2971800"/>
            <a:ext cx="5166360" cy="713232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31729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 high/critical-risk canonical package(s)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977640"/>
            <a:ext cx="5166360" cy="713232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7880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 package(s) in Production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977640"/>
            <a:ext cx="5166360" cy="713232"/>
          </a:xfrm>
          <a:prstGeom prst="roundRect">
            <a:avLst>
              <a:gd name="adj" fmla="val 5128"/>
            </a:avLst>
          </a:prstGeom>
          <a:solidFill>
            <a:srgbClr val="14213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417880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Pilot decision: Pending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5321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Decision owners should confirm the stated release conditions against the latest snapshot before authorizing the next gate.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Orbit Project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PMS Dashboard — Management Report</dc:title>
  <dc:subject>Project management review</dc:subject>
  <dc:creator>Orbit Project Manager</dc:creator>
  <cp:lastModifiedBy>Orbit Project Manager</cp:lastModifiedBy>
  <cp:revision>1</cp:revision>
  <dcterms:created xsi:type="dcterms:W3CDTF">2026-07-25T16:07:54Z</dcterms:created>
  <dcterms:modified xsi:type="dcterms:W3CDTF">2026-07-25T16:07:54Z</dcterms:modified>
</cp:coreProperties>
</file>